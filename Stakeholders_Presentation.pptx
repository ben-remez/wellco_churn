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79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329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241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32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965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25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28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183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19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66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740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572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69B3DB-FBED-5068-47B0-8475B67815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24" r="9091" b="2838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0C0D85-B639-302C-4D82-8142297056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0" y="978408"/>
            <a:ext cx="4795819" cy="3969960"/>
          </a:xfrm>
        </p:spPr>
        <p:txBody>
          <a:bodyPr anchor="t">
            <a:normAutofit/>
          </a:bodyPr>
          <a:lstStyle/>
          <a:p>
            <a:r>
              <a:rPr lang="en-US" sz="6600"/>
              <a:t>WellCo Churn</a:t>
            </a:r>
            <a:endParaRPr lang="en-IL" sz="6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1AB083-6D5E-0892-22C4-C2460CCCEE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910" y="4948369"/>
            <a:ext cx="4381634" cy="1157436"/>
          </a:xfrm>
        </p:spPr>
        <p:txBody>
          <a:bodyPr anchor="b">
            <a:normAutofit/>
          </a:bodyPr>
          <a:lstStyle/>
          <a:p>
            <a:r>
              <a:rPr lang="en-US" sz="2400" dirty="0"/>
              <a:t>Author: Ben Remez</a:t>
            </a:r>
          </a:p>
          <a:p>
            <a:r>
              <a:rPr lang="en-US" sz="2400" dirty="0"/>
              <a:t>Date: October 2025</a:t>
            </a:r>
            <a:endParaRPr lang="en-IL" sz="24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32057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F99707-D2EC-3FBF-01B3-E17866D7A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276856"/>
          </a:xfrm>
        </p:spPr>
        <p:txBody>
          <a:bodyPr>
            <a:normAutofit/>
          </a:bodyPr>
          <a:lstStyle/>
          <a:p>
            <a:r>
              <a:rPr lang="en-US" sz="4100"/>
              <a:t>Reducing Member Churn with Predictive Analytics</a:t>
            </a:r>
            <a:endParaRPr lang="en-IL" sz="41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C5FE1C-310B-4F6B-A44A-BC43430A2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diagram of steps with text&#10;&#10;AI-generated content may be incorrect.">
            <a:extLst>
              <a:ext uri="{FF2B5EF4-FFF2-40B4-BE49-F238E27FC236}">
                <a16:creationId xmlns:a16="http://schemas.microsoft.com/office/drawing/2014/main" id="{91CE93F0-9CE8-1AA0-8354-5950F4365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4387" y="-142875"/>
            <a:ext cx="4686538" cy="591360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959CE-81B0-ADC5-94B8-B409075A7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8966" y="5615355"/>
            <a:ext cx="5017380" cy="1398020"/>
          </a:xfrm>
        </p:spPr>
        <p:txBody>
          <a:bodyPr anchor="b">
            <a:normAutofit/>
          </a:bodyPr>
          <a:lstStyle/>
          <a:p>
            <a:r>
              <a:rPr lang="en-US" b="1" dirty="0"/>
              <a:t>Our goal: </a:t>
            </a:r>
            <a:r>
              <a:rPr lang="en-US" dirty="0"/>
              <a:t>Identify at-risk members early and guide proactive outreach that keeps them engaged.</a:t>
            </a:r>
          </a:p>
          <a:p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2213952-C612-4704-08BD-5023B0DB4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70" y="3068331"/>
            <a:ext cx="5253132" cy="354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632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BA8B2-2E8E-0B28-A813-15713EF40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32104"/>
          </a:xfrm>
        </p:spPr>
        <p:txBody>
          <a:bodyPr/>
          <a:lstStyle/>
          <a:p>
            <a:r>
              <a:rPr lang="en-US" dirty="0"/>
              <a:t>How We Build The Churn Model</a:t>
            </a:r>
            <a:endParaRPr lang="en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C5455D-9687-3471-205C-109DECCFA745}"/>
              </a:ext>
            </a:extLst>
          </p:cNvPr>
          <p:cNvSpPr txBox="1"/>
          <p:nvPr/>
        </p:nvSpPr>
        <p:spPr>
          <a:xfrm>
            <a:off x="521208" y="2500095"/>
            <a:ext cx="483356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Sources: </a:t>
            </a:r>
            <a:r>
              <a:rPr lang="en-US" dirty="0"/>
              <a:t>App usage, web visits, claims, and churn labels.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Feature Engineering: </a:t>
            </a:r>
            <a:r>
              <a:rPr lang="en-US" dirty="0"/>
              <a:t>Engagement frequency, tenure, topic mix (sleep, stress, nutrition), recency of activity, ICD flags.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Training setup:</a:t>
            </a:r>
            <a:r>
              <a:rPr lang="en-US" dirty="0"/>
              <a:t> Control-only data (to avoid treatment leakage), evaluated on holdout 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Models: </a:t>
            </a:r>
            <a:r>
              <a:rPr lang="en-US" dirty="0"/>
              <a:t>Logistic Regression (interpretable baseline) + HistGradientBoosting (non-linear booster).</a:t>
            </a:r>
            <a:endParaRPr lang="en-IL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66125A-0BBD-3081-8481-C3FB89022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2378833"/>
            <a:ext cx="6773220" cy="338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188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465FB-D5C0-EA8D-CE75-FEC1A6395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Prediction to Action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60661-974F-BF15-0C1F-1BCA303DA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2322576"/>
            <a:ext cx="5138928" cy="3767328"/>
          </a:xfrm>
        </p:spPr>
        <p:txBody>
          <a:bodyPr/>
          <a:lstStyle/>
          <a:p>
            <a:r>
              <a:rPr lang="en-US" b="1" dirty="0"/>
              <a:t>Optimal targeting range: </a:t>
            </a:r>
            <a:r>
              <a:rPr lang="en-US" dirty="0"/>
              <a:t>Top 5-10% of members.</a:t>
            </a:r>
          </a:p>
          <a:p>
            <a:r>
              <a:rPr lang="en-US" dirty="0"/>
              <a:t>Captures ~35% of churners while maintaining 2x lift vs. baseline.</a:t>
            </a:r>
          </a:p>
          <a:p>
            <a:r>
              <a:rPr lang="en-US" dirty="0"/>
              <a:t>Provides a ranked outreach list (top_n_members.csv) for the retention team.</a:t>
            </a:r>
          </a:p>
          <a:p>
            <a:r>
              <a:rPr lang="en-US" dirty="0"/>
              <a:t>Calibrated and interpretable for deployment in weekly scoring pipeline.</a:t>
            </a:r>
            <a:endParaRPr lang="en-I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8A4728-3171-1A67-84DF-0D5D88E10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714" y="2236711"/>
            <a:ext cx="4906060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572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261E2-9E24-5E1D-7A80-B139D96E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Performance and Stability</a:t>
            </a:r>
            <a:endParaRPr lang="en-IL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BD3DD3-3126-AD0C-7302-A1DB961D1D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8265267"/>
              </p:ext>
            </p:extLst>
          </p:nvPr>
        </p:nvGraphicFramePr>
        <p:xfrm>
          <a:off x="5144389" y="1851152"/>
          <a:ext cx="6444742" cy="18389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222371">
                  <a:extLst>
                    <a:ext uri="{9D8B030D-6E8A-4147-A177-3AD203B41FA5}">
                      <a16:colId xmlns:a16="http://schemas.microsoft.com/office/drawing/2014/main" val="1093796291"/>
                    </a:ext>
                  </a:extLst>
                </a:gridCol>
                <a:gridCol w="3222371">
                  <a:extLst>
                    <a:ext uri="{9D8B030D-6E8A-4147-A177-3AD203B41FA5}">
                      <a16:colId xmlns:a16="http://schemas.microsoft.com/office/drawing/2014/main" val="27920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LogReg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813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ROC-AUC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0.657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893361"/>
                  </a:ext>
                </a:extLst>
              </a:tr>
              <a:tr h="308356">
                <a:tc>
                  <a:txBody>
                    <a:bodyPr/>
                    <a:lstStyle/>
                    <a:p>
                      <a:r>
                        <a:rPr lang="en-US" dirty="0"/>
                        <a:t>PR-AUC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0.297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696799"/>
                  </a:ext>
                </a:extLst>
              </a:tr>
              <a:tr h="308356">
                <a:tc>
                  <a:txBody>
                    <a:bodyPr/>
                    <a:lstStyle/>
                    <a:p>
                      <a:r>
                        <a:rPr lang="en-US" dirty="0"/>
                        <a:t>Precision@10%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0.36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473980"/>
                  </a:ext>
                </a:extLst>
              </a:tr>
              <a:tr h="308356">
                <a:tc>
                  <a:txBody>
                    <a:bodyPr/>
                    <a:lstStyle/>
                    <a:p>
                      <a:r>
                        <a:rPr lang="en-US" dirty="0"/>
                        <a:t>Recall@10%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0.18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427856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5CC92060-660F-D89D-A661-4EACAF087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987" y="3709208"/>
            <a:ext cx="2945956" cy="29906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30C6E4-3247-BC95-74E2-1A6A7C2F34AA}"/>
              </a:ext>
            </a:extLst>
          </p:cNvPr>
          <p:cNvSpPr txBox="1"/>
          <p:nvPr/>
        </p:nvSpPr>
        <p:spPr>
          <a:xfrm>
            <a:off x="918655" y="2031968"/>
            <a:ext cx="38282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model can identify the 10% of members most at risk, capturing ~18% of churners - enough to meaningfully reduce dropout if targeted.</a:t>
            </a:r>
            <a:endParaRPr lang="en-IL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B1AF08-E13C-715C-CB3E-DB11C3D65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2579" y="3959488"/>
            <a:ext cx="4195550" cy="264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096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DB27B4-A834-CF2F-C529-350A00FFB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3465681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>
                <a:solidFill>
                  <a:schemeClr val="tx2"/>
                </a:solidFill>
              </a:rPr>
              <a:t>What Drives Members to Stay or Leave?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9CA55E-6DB6-D40B-7834-9486039C8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31" y="223387"/>
            <a:ext cx="7544853" cy="641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65656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220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Bierstadt</vt:lpstr>
      <vt:lpstr>Neue Haas Grotesk Text Pro</vt:lpstr>
      <vt:lpstr>GestaltVTI</vt:lpstr>
      <vt:lpstr>WellCo Churn</vt:lpstr>
      <vt:lpstr>Reducing Member Churn with Predictive Analytics</vt:lpstr>
      <vt:lpstr>How We Build The Churn Model</vt:lpstr>
      <vt:lpstr>From Prediction to Action</vt:lpstr>
      <vt:lpstr>Predictive Performance and Stability</vt:lpstr>
      <vt:lpstr>What Drives Members to Stay or Leave?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Remez</dc:creator>
  <cp:lastModifiedBy>Ben Remez</cp:lastModifiedBy>
  <cp:revision>8</cp:revision>
  <dcterms:created xsi:type="dcterms:W3CDTF">2025-10-29T14:46:38Z</dcterms:created>
  <dcterms:modified xsi:type="dcterms:W3CDTF">2025-10-29T16:57:54Z</dcterms:modified>
</cp:coreProperties>
</file>